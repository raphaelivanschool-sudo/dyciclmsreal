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92040"/>
            <a:ext cx="12191695" cy="10972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874519"/>
            <a:ext cx="822960" cy="109728"/>
          </a:xfrm>
          <a:prstGeom prst="rect">
            <a:avLst/>
          </a:prstGeom>
          <a:solidFill>
            <a:srgbClr val="2C7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57400"/>
            <a:ext cx="105156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400" b="1">
                <a:solidFill>
                  <a:srgbClr val="FFFFFF"/>
                </a:solidFill>
                <a:latin typeface="Segoe UI"/>
              </a:rPr>
              <a:t>DYCI Computer Laboratory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400" b="1">
                <a:solidFill>
                  <a:srgbClr val="FFFFFF"/>
                </a:solidFill>
                <a:latin typeface="Segoe UI"/>
              </a:rPr>
              <a:t>Management System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B9D0EE"/>
                </a:solidFill>
                <a:latin typeface="Segoe UI"/>
              </a:rPr>
              <a:t>A centralized platform to monitor, control, and manage computer laboratories in real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2120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5A623"/>
                </a:solidFill>
                <a:latin typeface="Segoe UI"/>
              </a:rPr>
              <a:t>Capstone / Project Presentation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DB6D4"/>
                </a:solidFill>
                <a:latin typeface="Segoe UI"/>
              </a:rPr>
              <a:t>Dr. Yanga's Colleges, Inc.  •  Computer Laboratory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23444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9DC2F0"/>
                </a:solidFill>
                <a:latin typeface="Segoe UI"/>
              </a:rPr>
              <a:t>INTRODUCTION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Segoe UI"/>
              </a:rPr>
              <a:t>Project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111556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B6B7B"/>
                </a:solidFill>
                <a:latin typeface="Segoe UI"/>
              </a:rPr>
              <a:t>The DYCI Computer Laboratory Management System is a web-based platform that lets administrators and instructors monitor and manage every PC in a computer lab from a single dashboard — turning manual, hands-on lab supervision into one centralized control point.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971800"/>
            <a:ext cx="3611880" cy="2743200"/>
          </a:xfrm>
          <a:prstGeom prst="rect">
            <a:avLst/>
          </a:prstGeom>
          <a:solidFill>
            <a:srgbClr val="F2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971800"/>
            <a:ext cx="3611880" cy="64008"/>
          </a:xfrm>
          <a:prstGeom prst="rect">
            <a:avLst/>
          </a:prstGeom>
          <a:solidFill>
            <a:srgbClr val="2C7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3154680"/>
            <a:ext cx="324612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0F2A4A"/>
                </a:solidFill>
                <a:latin typeface="Segoe UI"/>
              </a:rPr>
              <a:t>Centralized Control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5B6B7B"/>
                </a:solidFill>
                <a:latin typeface="Segoe UI"/>
              </a:rPr>
              <a:t>•  One dashboard for all lab PCs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5B6B7B"/>
                </a:solidFill>
                <a:latin typeface="Segoe UI"/>
              </a:rPr>
              <a:t>•  Lock, shut down &amp; restrict access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5B6B7B"/>
                </a:solidFill>
                <a:latin typeface="Segoe UI"/>
              </a:rPr>
              <a:t>•  Live online/offline status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2971800"/>
            <a:ext cx="3611880" cy="2743200"/>
          </a:xfrm>
          <a:prstGeom prst="rect">
            <a:avLst/>
          </a:prstGeom>
          <a:solidFill>
            <a:srgbClr val="F2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3400" y="2971800"/>
            <a:ext cx="3611880" cy="6400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44568" y="3154680"/>
            <a:ext cx="324612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0F2A4A"/>
                </a:solidFill>
                <a:latin typeface="Segoe UI"/>
              </a:rPr>
              <a:t>Real-Time &amp; Connected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5B6B7B"/>
                </a:solidFill>
                <a:latin typeface="Segoe UI"/>
              </a:rPr>
              <a:t>•  Live screen monitoring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5B6B7B"/>
                </a:solidFill>
                <a:latin typeface="Segoe UI"/>
              </a:rPr>
              <a:t>•  Instant screen projection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5B6B7B"/>
                </a:solidFill>
                <a:latin typeface="Segoe UI"/>
              </a:rPr>
              <a:t>•  Built on Socket.IO updates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83880" y="2971800"/>
            <a:ext cx="3611880" cy="2743200"/>
          </a:xfrm>
          <a:prstGeom prst="rect">
            <a:avLst/>
          </a:prstGeom>
          <a:solidFill>
            <a:srgbClr val="F2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83880" y="2971800"/>
            <a:ext cx="3611880" cy="64008"/>
          </a:xfrm>
          <a:prstGeom prst="rect">
            <a:avLst/>
          </a:prstGeom>
          <a:solidFill>
            <a:srgbClr val="2C7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85048" y="3154680"/>
            <a:ext cx="324612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0F2A4A"/>
                </a:solidFill>
                <a:latin typeface="Segoe UI"/>
              </a:rPr>
              <a:t>Academics Built-In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5B6B7B"/>
                </a:solidFill>
                <a:latin typeface="Segoe UI"/>
              </a:rPr>
              <a:t>•  Grading &amp; gradebook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5B6B7B"/>
                </a:solidFill>
                <a:latin typeface="Segoe UI"/>
              </a:rPr>
              <a:t>•  Messaging &amp; support tickets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5B6B7B"/>
                </a:solidFill>
                <a:latin typeface="Segoe UI"/>
              </a:rPr>
              <a:t>•  Usage &amp; activity reports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23444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9DC2F0"/>
                </a:solidFill>
                <a:latin typeface="Segoe UI"/>
              </a:rPr>
              <a:t>AT A GLANCE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Segoe UI"/>
              </a:rPr>
              <a:t>How the System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08760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B6B7B"/>
                </a:solidFill>
                <a:latin typeface="Segoe UI"/>
              </a:rPr>
              <a:t>Two connected sides keep the whole lab in sync over the local network.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606040"/>
            <a:ext cx="3383280" cy="137160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770632"/>
            <a:ext cx="301752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Host Dashboard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DDE9F7"/>
                </a:solidFill>
                <a:latin typeface="Segoe UI"/>
              </a:rPr>
              <a:t>Admin / Instructor controls the lab from the browser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2606040"/>
            <a:ext cx="3383280" cy="1371600"/>
          </a:xfrm>
          <a:prstGeom prst="rect">
            <a:avLst/>
          </a:prstGeom>
          <a:solidFill>
            <a:srgbClr val="2C7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2770632"/>
            <a:ext cx="301752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Host Server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DDE9F7"/>
                </a:solidFill>
                <a:latin typeface="Segoe UI"/>
              </a:rPr>
              <a:t>Relays commands &amp; screen frames securely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66760" y="2606040"/>
            <a:ext cx="3291840" cy="137160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49640" y="2770632"/>
            <a:ext cx="292608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Lab PC Agents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DDE9F7"/>
                </a:solidFill>
                <a:latin typeface="Segoe UI"/>
              </a:rPr>
              <a:t>Each PC reports status &amp; runs locked overlay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950208" y="3108960"/>
            <a:ext cx="411480" cy="365760"/>
          </a:xfrm>
          <a:prstGeom prst="rightArrow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7882127" y="3108960"/>
            <a:ext cx="411480" cy="365760"/>
          </a:xfrm>
          <a:prstGeom prst="rightArrow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4572000"/>
            <a:ext cx="111556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2A4A"/>
                </a:solidFill>
                <a:latin typeface="Segoe UI"/>
              </a:rPr>
              <a:t>Key capabilities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B7B"/>
                </a:solidFill>
                <a:latin typeface="Segoe UI"/>
              </a:rPr>
              <a:t>•  Live monitoring of every lab PC — online status, screens &amp; activity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B7B"/>
                </a:solidFill>
                <a:latin typeface="Segoe UI"/>
              </a:rPr>
              <a:t>•  Locked Demo Mode — project the instructor's screen fullscreen and input-locked on guests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B7B"/>
                </a:solidFill>
                <a:latin typeface="Segoe UI"/>
              </a:rPr>
              <a:t>•  Remote actions — lock, shut down, network scan &amp; website restriction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23444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9DC2F0"/>
                </a:solidFill>
                <a:latin typeface="Segoe UI"/>
              </a:rPr>
              <a:t>WHO IT'S FOR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Segoe UI"/>
              </a:rPr>
              <a:t>Target Users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828800"/>
            <a:ext cx="3611880" cy="4023360"/>
          </a:xfrm>
          <a:prstGeom prst="rect">
            <a:avLst/>
          </a:prstGeom>
          <a:solidFill>
            <a:srgbClr val="F2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828800"/>
            <a:ext cx="3611880" cy="82296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75104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>
                <a:solidFill>
                  <a:srgbClr val="FFFFFF"/>
                </a:solidFill>
                <a:latin typeface="Segoe UI"/>
              </a:rPr>
              <a:t>Administrator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B9D0EE"/>
                </a:solidFill>
                <a:latin typeface="Segoe UI"/>
              </a:rPr>
              <a:t>Manages the whole system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651760"/>
            <a:ext cx="3611880" cy="54864"/>
          </a:xfrm>
          <a:prstGeom prst="rect">
            <a:avLst/>
          </a:prstGeom>
          <a:solidFill>
            <a:srgbClr val="2C7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926080"/>
            <a:ext cx="31546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>
                <a:solidFill>
                  <a:srgbClr val="5B6B7B"/>
                </a:solidFill>
                <a:latin typeface="Segoe UI"/>
              </a:rPr>
              <a:t>•  Users, labs &amp; computers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5B6B7B"/>
                </a:solidFill>
                <a:latin typeface="Segoe UI"/>
              </a:rPr>
              <a:t>•  Network &amp; security control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5B6B7B"/>
                </a:solidFill>
                <a:latin typeface="Segoe UI"/>
              </a:rPr>
              <a:t>•  Reports, logs &amp; inventory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828800"/>
            <a:ext cx="3611880" cy="4023360"/>
          </a:xfrm>
          <a:prstGeom prst="rect">
            <a:avLst/>
          </a:prstGeom>
          <a:solidFill>
            <a:srgbClr val="F2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828800"/>
            <a:ext cx="3611880" cy="82296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975104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>
                <a:solidFill>
                  <a:srgbClr val="FFFFFF"/>
                </a:solidFill>
                <a:latin typeface="Segoe UI"/>
              </a:rPr>
              <a:t>Instructor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B9D0EE"/>
                </a:solidFill>
                <a:latin typeface="Segoe UI"/>
              </a:rPr>
              <a:t>Runs the classroom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2651760"/>
            <a:ext cx="3611880" cy="54864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926080"/>
            <a:ext cx="31546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>
                <a:solidFill>
                  <a:srgbClr val="5B6B7B"/>
                </a:solidFill>
                <a:latin typeface="Segoe UI"/>
              </a:rPr>
              <a:t>•  Monitor student screens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5B6B7B"/>
                </a:solidFill>
                <a:latin typeface="Segoe UI"/>
              </a:rPr>
              <a:t>•  Lock / project / control PCs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5B6B7B"/>
                </a:solidFill>
                <a:latin typeface="Segoe UI"/>
              </a:rPr>
              <a:t>•  Grade students &amp; approve tickets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83880" y="1828800"/>
            <a:ext cx="3611880" cy="4023360"/>
          </a:xfrm>
          <a:prstGeom prst="rect">
            <a:avLst/>
          </a:prstGeom>
          <a:solidFill>
            <a:srgbClr val="F2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83880" y="1828800"/>
            <a:ext cx="3611880" cy="82296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1975104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>
                <a:solidFill>
                  <a:srgbClr val="FFFFFF"/>
                </a:solidFill>
                <a:latin typeface="Segoe UI"/>
              </a:rPr>
              <a:t>Student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B9D0EE"/>
                </a:solidFill>
                <a:latin typeface="Segoe UI"/>
              </a:rPr>
              <a:t>Uses the lab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83880" y="2651760"/>
            <a:ext cx="3611880" cy="54864"/>
          </a:xfrm>
          <a:prstGeom prst="rect">
            <a:avLst/>
          </a:prstGeom>
          <a:solidFill>
            <a:srgbClr val="2C7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2926080"/>
            <a:ext cx="31546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>
                <a:solidFill>
                  <a:srgbClr val="5B6B7B"/>
                </a:solidFill>
                <a:latin typeface="Segoe UI"/>
              </a:rPr>
              <a:t>•  View session dashboard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5B6B7B"/>
                </a:solidFill>
                <a:latin typeface="Segoe UI"/>
              </a:rPr>
              <a:t>•  Message &amp; request support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5B6B7B"/>
                </a:solidFill>
                <a:latin typeface="Segoe UI"/>
              </a:rPr>
              <a:t>•  Check personal grades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23444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9DC2F0"/>
                </a:solidFill>
                <a:latin typeface="Segoe UI"/>
              </a:rPr>
              <a:t>MODULES &amp; FEATURES — ADMINISTRATOR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Segoe UI"/>
              </a:rPr>
              <a:t>What It Does for Admins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08760"/>
            <a:ext cx="3611880" cy="2148840"/>
          </a:xfrm>
          <a:prstGeom prst="rect">
            <a:avLst/>
          </a:prstGeom>
          <a:solidFill>
            <a:srgbClr val="F2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508760"/>
            <a:ext cx="3611880" cy="64008"/>
          </a:xfrm>
          <a:prstGeom prst="rect">
            <a:avLst/>
          </a:prstGeom>
          <a:solidFill>
            <a:srgbClr val="2C7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691640"/>
            <a:ext cx="3246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0F2A4A"/>
                </a:solidFill>
                <a:latin typeface="Segoe UI"/>
              </a:rPr>
              <a:t>User &amp; Access Management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5B6B7B"/>
                </a:solidFill>
                <a:latin typeface="Segoe UI"/>
              </a:rPr>
              <a:t>•  Manage admin, instructor &amp; student accounts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5B6B7B"/>
                </a:solidFill>
                <a:latin typeface="Segoe UI"/>
              </a:rPr>
              <a:t>•  Role-based access control</a:t>
            </a:r>
          </a:p>
        </p:txBody>
      </p:sp>
      <p:sp>
        <p:nvSpPr>
          <p:cNvPr id="8" name="Rectangle 7"/>
          <p:cNvSpPr/>
          <p:nvPr/>
        </p:nvSpPr>
        <p:spPr>
          <a:xfrm>
            <a:off x="4343400" y="1508760"/>
            <a:ext cx="3611880" cy="2148840"/>
          </a:xfrm>
          <a:prstGeom prst="rect">
            <a:avLst/>
          </a:prstGeom>
          <a:solidFill>
            <a:srgbClr val="F2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43400" y="1508760"/>
            <a:ext cx="3611880" cy="64008"/>
          </a:xfrm>
          <a:prstGeom prst="rect">
            <a:avLst/>
          </a:prstGeom>
          <a:solidFill>
            <a:srgbClr val="2C7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44568" y="1691640"/>
            <a:ext cx="3246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0F2A4A"/>
                </a:solidFill>
                <a:latin typeface="Segoe UI"/>
              </a:rPr>
              <a:t>Lab &amp; Computer Management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5B6B7B"/>
                </a:solidFill>
                <a:latin typeface="Segoe UI"/>
              </a:rPr>
              <a:t>•  Register laboratories &amp; computers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5B6B7B"/>
                </a:solidFill>
                <a:latin typeface="Segoe UI"/>
              </a:rPr>
              <a:t>•  Hardware inventory tracking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83880" y="1508760"/>
            <a:ext cx="3611880" cy="2148840"/>
          </a:xfrm>
          <a:prstGeom prst="rect">
            <a:avLst/>
          </a:prstGeom>
          <a:solidFill>
            <a:srgbClr val="F2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83880" y="1508760"/>
            <a:ext cx="3611880" cy="64008"/>
          </a:xfrm>
          <a:prstGeom prst="rect">
            <a:avLst/>
          </a:prstGeom>
          <a:solidFill>
            <a:srgbClr val="2C7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5048" y="1691640"/>
            <a:ext cx="3246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0F2A4A"/>
                </a:solidFill>
                <a:latin typeface="Segoe UI"/>
              </a:rPr>
              <a:t>Scheduling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5B6B7B"/>
                </a:solidFill>
                <a:latin typeface="Segoe UI"/>
              </a:rPr>
              <a:t>•  Assign labs, classes &amp; time slots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5B6B7B"/>
                </a:solidFill>
                <a:latin typeface="Segoe UI"/>
              </a:rPr>
              <a:t>•  Avoid booking conflicts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886200"/>
            <a:ext cx="3611880" cy="2148840"/>
          </a:xfrm>
          <a:prstGeom prst="rect">
            <a:avLst/>
          </a:prstGeom>
          <a:solidFill>
            <a:srgbClr val="F2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3886200"/>
            <a:ext cx="3611880" cy="64008"/>
          </a:xfrm>
          <a:prstGeom prst="rect">
            <a:avLst/>
          </a:prstGeom>
          <a:solidFill>
            <a:srgbClr val="2C7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088" y="4069080"/>
            <a:ext cx="3246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0F2A4A"/>
                </a:solidFill>
                <a:latin typeface="Segoe UI"/>
              </a:rPr>
              <a:t>Network &amp; Security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5B6B7B"/>
                </a:solidFill>
                <a:latin typeface="Segoe UI"/>
              </a:rPr>
              <a:t>•  Scan the network &amp; restrict websites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5B6B7B"/>
                </a:solidFill>
                <a:latin typeface="Segoe UI"/>
              </a:rPr>
              <a:t>•  Security settings &amp; policies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3886200"/>
            <a:ext cx="3611880" cy="2148840"/>
          </a:xfrm>
          <a:prstGeom prst="rect">
            <a:avLst/>
          </a:prstGeom>
          <a:solidFill>
            <a:srgbClr val="F2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43400" y="3886200"/>
            <a:ext cx="3611880" cy="64008"/>
          </a:xfrm>
          <a:prstGeom prst="rect">
            <a:avLst/>
          </a:prstGeom>
          <a:solidFill>
            <a:srgbClr val="2C7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44568" y="4069080"/>
            <a:ext cx="3246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0F2A4A"/>
                </a:solidFill>
                <a:latin typeface="Segoe UI"/>
              </a:rPr>
              <a:t>Monitoring &amp; Projection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5B6B7B"/>
                </a:solidFill>
                <a:latin typeface="Segoe UI"/>
              </a:rPr>
              <a:t>•  Live PC status &amp; screen projection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5B6B7B"/>
                </a:solidFill>
                <a:latin typeface="Segoe UI"/>
              </a:rPr>
              <a:t>•  Lock / shut down any PC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83880" y="3886200"/>
            <a:ext cx="3611880" cy="2148840"/>
          </a:xfrm>
          <a:prstGeom prst="rect">
            <a:avLst/>
          </a:prstGeom>
          <a:solidFill>
            <a:srgbClr val="F2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83880" y="3886200"/>
            <a:ext cx="3611880" cy="64008"/>
          </a:xfrm>
          <a:prstGeom prst="rect">
            <a:avLst/>
          </a:prstGeom>
          <a:solidFill>
            <a:srgbClr val="2C7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85048" y="4069080"/>
            <a:ext cx="3246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0F2A4A"/>
                </a:solidFill>
                <a:latin typeface="Segoe UI"/>
              </a:rPr>
              <a:t>Reports &amp; System Logs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5B6B7B"/>
                </a:solidFill>
                <a:latin typeface="Segoe UI"/>
              </a:rPr>
              <a:t>•  Usage &amp; activity reports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5B6B7B"/>
                </a:solidFill>
                <a:latin typeface="Segoe UI"/>
              </a:rPr>
              <a:t>•  Full audit trail of actions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23444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9DC2F0"/>
                </a:solidFill>
                <a:latin typeface="Segoe UI"/>
              </a:rPr>
              <a:t>MODULES &amp; FEATURES — INSTRUCTOR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Segoe UI"/>
              </a:rPr>
              <a:t>What It Does for Instructors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08760"/>
            <a:ext cx="3611880" cy="2148840"/>
          </a:xfrm>
          <a:prstGeom prst="rect">
            <a:avLst/>
          </a:prstGeom>
          <a:solidFill>
            <a:srgbClr val="F2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508760"/>
            <a:ext cx="3611880" cy="6400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691640"/>
            <a:ext cx="3246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0F2A4A"/>
                </a:solidFill>
                <a:latin typeface="Segoe UI"/>
              </a:rPr>
              <a:t>Classroom Dashboard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5B6B7B"/>
                </a:solidFill>
                <a:latin typeface="Segoe UI"/>
              </a:rPr>
              <a:t>•  See the whole class at a glance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5B6B7B"/>
                </a:solidFill>
                <a:latin typeface="Segoe UI"/>
              </a:rPr>
              <a:t>•  Live student status</a:t>
            </a:r>
          </a:p>
        </p:txBody>
      </p:sp>
      <p:sp>
        <p:nvSpPr>
          <p:cNvPr id="8" name="Rectangle 7"/>
          <p:cNvSpPr/>
          <p:nvPr/>
        </p:nvSpPr>
        <p:spPr>
          <a:xfrm>
            <a:off x="4343400" y="1508760"/>
            <a:ext cx="3611880" cy="2148840"/>
          </a:xfrm>
          <a:prstGeom prst="rect">
            <a:avLst/>
          </a:prstGeom>
          <a:solidFill>
            <a:srgbClr val="F2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43400" y="1508760"/>
            <a:ext cx="3611880" cy="6400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44568" y="1691640"/>
            <a:ext cx="3246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0F2A4A"/>
                </a:solidFill>
                <a:latin typeface="Segoe UI"/>
              </a:rPr>
              <a:t>Student Screen Monitoring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5B6B7B"/>
                </a:solidFill>
                <a:latin typeface="Segoe UI"/>
              </a:rPr>
              <a:t>•  View student screens in real time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5B6B7B"/>
                </a:solidFill>
                <a:latin typeface="Segoe UI"/>
              </a:rPr>
              <a:t>•  Spot off-task activity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83880" y="1508760"/>
            <a:ext cx="3611880" cy="2148840"/>
          </a:xfrm>
          <a:prstGeom prst="rect">
            <a:avLst/>
          </a:prstGeom>
          <a:solidFill>
            <a:srgbClr val="F2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83880" y="1508760"/>
            <a:ext cx="3611880" cy="6400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5048" y="1691640"/>
            <a:ext cx="3246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0F2A4A"/>
                </a:solidFill>
                <a:latin typeface="Segoe UI"/>
              </a:rPr>
              <a:t>Control Actions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5B6B7B"/>
                </a:solidFill>
                <a:latin typeface="Segoe UI"/>
              </a:rPr>
              <a:t>•  Lock, shut down &amp; project screen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5B6B7B"/>
                </a:solidFill>
                <a:latin typeface="Segoe UI"/>
              </a:rPr>
              <a:t>•  Keep the class focused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886200"/>
            <a:ext cx="3611880" cy="2148840"/>
          </a:xfrm>
          <a:prstGeom prst="rect">
            <a:avLst/>
          </a:prstGeom>
          <a:solidFill>
            <a:srgbClr val="F2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3886200"/>
            <a:ext cx="3611880" cy="6400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088" y="4069080"/>
            <a:ext cx="3246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0F2A4A"/>
                </a:solidFill>
                <a:latin typeface="Segoe UI"/>
              </a:rPr>
              <a:t>Messaging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5B6B7B"/>
                </a:solidFill>
                <a:latin typeface="Segoe UI"/>
              </a:rPr>
              <a:t>•  Send announcements to students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5B6B7B"/>
                </a:solidFill>
                <a:latin typeface="Segoe UI"/>
              </a:rPr>
              <a:t>•  One-to-one chat support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3886200"/>
            <a:ext cx="3611880" cy="2148840"/>
          </a:xfrm>
          <a:prstGeom prst="rect">
            <a:avLst/>
          </a:prstGeom>
          <a:solidFill>
            <a:srgbClr val="F2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43400" y="3886200"/>
            <a:ext cx="3611880" cy="6400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44568" y="4069080"/>
            <a:ext cx="3246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0F2A4A"/>
                </a:solidFill>
                <a:latin typeface="Segoe UI"/>
              </a:rPr>
              <a:t>Ticket Approval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5B6B7B"/>
                </a:solidFill>
                <a:latin typeface="Segoe UI"/>
              </a:rPr>
              <a:t>•  Review student support requests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5B6B7B"/>
                </a:solidFill>
                <a:latin typeface="Segoe UI"/>
              </a:rPr>
              <a:t>•  Approve or resolve quickly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83880" y="3886200"/>
            <a:ext cx="3611880" cy="2148840"/>
          </a:xfrm>
          <a:prstGeom prst="rect">
            <a:avLst/>
          </a:prstGeom>
          <a:solidFill>
            <a:srgbClr val="F2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83880" y="3886200"/>
            <a:ext cx="3611880" cy="6400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85048" y="4069080"/>
            <a:ext cx="3246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0F2A4A"/>
                </a:solidFill>
                <a:latin typeface="Segoe UI"/>
              </a:rPr>
              <a:t>Grading &amp; Reports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5B6B7B"/>
                </a:solidFill>
                <a:latin typeface="Segoe UI"/>
              </a:rPr>
              <a:t>•  Gradebook, grade scales &amp; subjects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5B6B7B"/>
                </a:solidFill>
                <a:latin typeface="Segoe UI"/>
              </a:rPr>
              <a:t>•  Class performance reports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23444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9DC2F0"/>
                </a:solidFill>
                <a:latin typeface="Segoe UI"/>
              </a:rPr>
              <a:t>MODULES &amp; FEATURES — STUDENT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Segoe UI"/>
              </a:rPr>
              <a:t>What It Does for Students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08760"/>
            <a:ext cx="5440680" cy="2286000"/>
          </a:xfrm>
          <a:prstGeom prst="rect">
            <a:avLst/>
          </a:prstGeom>
          <a:solidFill>
            <a:srgbClr val="F2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508760"/>
            <a:ext cx="5440680" cy="64008"/>
          </a:xfrm>
          <a:prstGeom prst="rect">
            <a:avLst/>
          </a:prstGeom>
          <a:solidFill>
            <a:srgbClr val="2C7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691640"/>
            <a:ext cx="507492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0F2A4A"/>
                </a:solidFill>
                <a:latin typeface="Segoe UI"/>
              </a:rPr>
              <a:t>Session Dashboard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5B6B7B"/>
                </a:solidFill>
                <a:latin typeface="Segoe UI"/>
              </a:rPr>
              <a:t>•  See current class &amp; session info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5B6B7B"/>
                </a:solidFill>
                <a:latin typeface="Segoe UI"/>
              </a:rPr>
              <a:t>•  Stay aware of lab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1508760"/>
            <a:ext cx="5440680" cy="2286000"/>
          </a:xfrm>
          <a:prstGeom prst="rect">
            <a:avLst/>
          </a:prstGeom>
          <a:solidFill>
            <a:srgbClr val="F2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508760"/>
            <a:ext cx="5440680" cy="64008"/>
          </a:xfrm>
          <a:prstGeom prst="rect">
            <a:avLst/>
          </a:prstGeom>
          <a:solidFill>
            <a:srgbClr val="2C7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64808" y="1691640"/>
            <a:ext cx="507492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0F2A4A"/>
                </a:solidFill>
                <a:latin typeface="Segoe UI"/>
              </a:rPr>
              <a:t>Support Tickets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5B6B7B"/>
                </a:solidFill>
                <a:latin typeface="Segoe UI"/>
              </a:rPr>
              <a:t>•  Report PC or software issues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5B6B7B"/>
                </a:solidFill>
                <a:latin typeface="Segoe UI"/>
              </a:rPr>
              <a:t>•  Track request status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023360"/>
            <a:ext cx="5440680" cy="2286000"/>
          </a:xfrm>
          <a:prstGeom prst="rect">
            <a:avLst/>
          </a:prstGeom>
          <a:solidFill>
            <a:srgbClr val="F2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4023360"/>
            <a:ext cx="5440680" cy="64008"/>
          </a:xfrm>
          <a:prstGeom prst="rect">
            <a:avLst/>
          </a:prstGeom>
          <a:solidFill>
            <a:srgbClr val="2C7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4088" y="4206240"/>
            <a:ext cx="507492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0F2A4A"/>
                </a:solidFill>
                <a:latin typeface="Segoe UI"/>
              </a:rPr>
              <a:t>Messaging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5B6B7B"/>
                </a:solidFill>
                <a:latin typeface="Segoe UI"/>
              </a:rPr>
              <a:t>•  Chat with the instructor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5B6B7B"/>
                </a:solidFill>
                <a:latin typeface="Segoe UI"/>
              </a:rPr>
              <a:t>•  Receive announcements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4023360"/>
            <a:ext cx="5440680" cy="2286000"/>
          </a:xfrm>
          <a:prstGeom prst="rect">
            <a:avLst/>
          </a:prstGeom>
          <a:solidFill>
            <a:srgbClr val="F2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4023360"/>
            <a:ext cx="5440680" cy="64008"/>
          </a:xfrm>
          <a:prstGeom prst="rect">
            <a:avLst/>
          </a:prstGeom>
          <a:solidFill>
            <a:srgbClr val="2C7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4808" y="4206240"/>
            <a:ext cx="507492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0F2A4A"/>
                </a:solidFill>
                <a:latin typeface="Segoe UI"/>
              </a:rPr>
              <a:t>My Grades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5B6B7B"/>
                </a:solidFill>
                <a:latin typeface="Segoe UI"/>
              </a:rPr>
              <a:t>•  View personal grades anytime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5B6B7B"/>
                </a:solidFill>
                <a:latin typeface="Segoe UI"/>
              </a:rPr>
              <a:t>•  Transparent grade breakdown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777240"/>
            <a:ext cx="822960" cy="10972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Segoe UI"/>
              </a:rPr>
              <a:t>KEY BENEFITS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Segoe UI"/>
              </a:rPr>
              <a:t>Why It Matters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468880"/>
            <a:ext cx="64008" cy="146304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560320"/>
            <a:ext cx="48463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Segoe UI"/>
              </a:rPr>
              <a:t>Saves time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B9D0EE"/>
                </a:solidFill>
                <a:latin typeface="Segoe UI"/>
              </a:rPr>
              <a:t>Manage every PC from one screen — no walking station to station.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2468880"/>
            <a:ext cx="64008" cy="146304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2560320"/>
            <a:ext cx="48463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Segoe UI"/>
              </a:rPr>
              <a:t>Better focus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B9D0EE"/>
                </a:solidFill>
                <a:latin typeface="Segoe UI"/>
              </a:rPr>
              <a:t>Lock screens &amp; project demos to keep students on task.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4251960"/>
            <a:ext cx="64008" cy="146304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4343400"/>
            <a:ext cx="48463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Segoe UI"/>
              </a:rPr>
              <a:t>Faster support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B9D0EE"/>
                </a:solidFill>
                <a:latin typeface="Segoe UI"/>
              </a:rPr>
              <a:t>Tickets &amp; messaging resolve lab issues quickly.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4251960"/>
            <a:ext cx="64008" cy="146304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4343400"/>
            <a:ext cx="48463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Segoe UI"/>
              </a:rPr>
              <a:t>Clear records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B9D0EE"/>
                </a:solidFill>
                <a:latin typeface="Segoe UI"/>
              </a:rPr>
              <a:t>Grades, reports &amp; logs keep everything accountable.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0807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9DB6D4"/>
                </a:solidFill>
                <a:latin typeface="Segoe UI"/>
              </a:rPr>
              <a:t>DYCI Computer Laboratory Management System  —  smarter labs, simpler management.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